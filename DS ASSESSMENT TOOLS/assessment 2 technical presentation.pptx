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38" y="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46975" y="3423050"/>
            <a:ext cx="12794049" cy="1568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96642" y="36698"/>
            <a:ext cx="2291357" cy="22955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26" y="0"/>
            <a:ext cx="1885949" cy="24764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77981" y="4015739"/>
            <a:ext cx="104774" cy="1047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33767" y="3812539"/>
            <a:ext cx="3769359" cy="5199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1111165" y="3812634"/>
            <a:ext cx="6690359" cy="5199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526" y="0"/>
            <a:ext cx="1885949" cy="2476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996642" y="36698"/>
            <a:ext cx="2291357" cy="22955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1145" y="772082"/>
            <a:ext cx="12845709" cy="2520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25209" y="3555504"/>
            <a:ext cx="12437580" cy="4392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2746975" y="3423050"/>
            <a:ext cx="12794049" cy="1518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86785" marR="5080" indent="-3474720">
              <a:lnSpc>
                <a:spcPct val="116399"/>
              </a:lnSpc>
              <a:spcBef>
                <a:spcPts val="90"/>
              </a:spcBef>
            </a:pPr>
            <a:r>
              <a:rPr lang="en-US" sz="4400" dirty="0"/>
              <a:t>EFFICIENT CUSTOMER ACCOUNT RETRIEVAL USING HASH TABLE</a:t>
            </a:r>
            <a:endParaRPr lang="en-US" sz="43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537" y="730111"/>
            <a:ext cx="16811624" cy="1828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73341" y="6315268"/>
            <a:ext cx="4519295" cy="1031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42975">
              <a:lnSpc>
                <a:spcPct val="116500"/>
              </a:lnSpc>
              <a:spcBef>
                <a:spcPts val="100"/>
              </a:spcBef>
            </a:pPr>
            <a:r>
              <a:rPr sz="2950" dirty="0">
                <a:latin typeface="Times New Roman"/>
                <a:cs typeface="Times New Roman"/>
              </a:rPr>
              <a:t>PRESENTD</a:t>
            </a:r>
            <a:r>
              <a:rPr sz="2950" spc="-45" dirty="0">
                <a:latin typeface="Times New Roman"/>
                <a:cs typeface="Times New Roman"/>
              </a:rPr>
              <a:t> </a:t>
            </a:r>
            <a:r>
              <a:rPr sz="2950" spc="-25" dirty="0">
                <a:latin typeface="Times New Roman"/>
                <a:cs typeface="Times New Roman"/>
              </a:rPr>
              <a:t>BY </a:t>
            </a:r>
            <a:r>
              <a:rPr lang="en-US" sz="2950" spc="-25" dirty="0">
                <a:latin typeface="Times New Roman"/>
                <a:cs typeface="Times New Roman"/>
              </a:rPr>
              <a:t>RAKSHANA S</a:t>
            </a:r>
            <a:r>
              <a:rPr sz="2950" spc="-10" dirty="0">
                <a:latin typeface="Times New Roman"/>
                <a:cs typeface="Times New Roman"/>
              </a:rPr>
              <a:t>(1925211</a:t>
            </a:r>
            <a:r>
              <a:rPr lang="en-US" sz="2950" spc="-10" dirty="0">
                <a:latin typeface="Times New Roman"/>
                <a:cs typeface="Times New Roman"/>
              </a:rPr>
              <a:t>65)</a:t>
            </a:r>
            <a:endParaRPr sz="2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xfrm>
            <a:off x="2743200" y="3085622"/>
            <a:ext cx="12663433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2800" dirty="0"/>
              <a:t>A banking system manages millions of customer records. Customers expect their account details to be retrieved instantly using their account number. Therefore, the</a:t>
            </a:r>
          </a:p>
          <a:p>
            <a:pPr marL="12700">
              <a:spcBef>
                <a:spcPts val="100"/>
              </a:spcBef>
            </a:pPr>
            <a:r>
              <a:rPr lang="en-IN" sz="2800" dirty="0"/>
              <a:t>system requires a data structure that provides fast, accurate, and efficient search operations.</a:t>
            </a:r>
          </a:p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v"/>
            </a:pPr>
            <a:endParaRPr sz="2800" spc="-10" dirty="0"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04800" y="105393"/>
            <a:ext cx="14906626" cy="1883236"/>
          </a:xfrm>
          <a:prstGeom prst="rect">
            <a:avLst/>
          </a:prstGeom>
        </p:spPr>
        <p:txBody>
          <a:bodyPr vert="horz" wrap="square" lIns="0" tIns="950623" rIns="0" bIns="0" rtlCol="0">
            <a:spAutoFit/>
          </a:bodyPr>
          <a:lstStyle/>
          <a:p>
            <a:pPr marL="4037965">
              <a:lnSpc>
                <a:spcPct val="100000"/>
              </a:lnSpc>
              <a:spcBef>
                <a:spcPts val="90"/>
              </a:spcBef>
            </a:pPr>
            <a:r>
              <a:rPr lang="en-US" sz="6000" b="1" spc="-10" dirty="0"/>
              <a:t>PROBLEM STATEMENT</a:t>
            </a:r>
            <a:endParaRPr sz="6000" b="1" spc="-1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02C360-E658-0E43-0D2F-032D686E0396}"/>
              </a:ext>
            </a:extLst>
          </p:cNvPr>
          <p:cNvSpPr txBox="1"/>
          <p:nvPr/>
        </p:nvSpPr>
        <p:spPr>
          <a:xfrm>
            <a:off x="6629400" y="4728001"/>
            <a:ext cx="97215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2577C-F59E-5AAC-C878-F0164DC94EFD}"/>
              </a:ext>
            </a:extLst>
          </p:cNvPr>
          <p:cNvSpPr txBox="1"/>
          <p:nvPr/>
        </p:nvSpPr>
        <p:spPr>
          <a:xfrm>
            <a:off x="2743200" y="5676900"/>
            <a:ext cx="1226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most suitable data structure for retrieving customer account details quickly and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-1676400" y="0"/>
            <a:ext cx="19118094" cy="1961596"/>
          </a:xfrm>
          <a:prstGeom prst="rect">
            <a:avLst/>
          </a:prstGeom>
        </p:spPr>
        <p:txBody>
          <a:bodyPr vert="horz" wrap="square" lIns="0" tIns="868205" rIns="0" bIns="0" rtlCol="0">
            <a:spAutoFit/>
          </a:bodyPr>
          <a:lstStyle/>
          <a:p>
            <a:pPr marL="4338955">
              <a:lnSpc>
                <a:spcPct val="100000"/>
              </a:lnSpc>
              <a:spcBef>
                <a:spcPts val="90"/>
              </a:spcBef>
            </a:pPr>
            <a:r>
              <a:rPr lang="en-IN" dirty="0"/>
              <a:t>DATA STRUCTURE SELECTION</a:t>
            </a:r>
            <a:endParaRPr lang="en-IN"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1752600" y="2807412"/>
            <a:ext cx="11041231" cy="4672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562860">
              <a:lnSpc>
                <a:spcPts val="6830"/>
              </a:lnSpc>
              <a:spcBef>
                <a:spcPts val="790"/>
              </a:spcBef>
            </a:pPr>
            <a:r>
              <a:rPr lang="en-US" sz="2850" b="1" i="1" dirty="0">
                <a:latin typeface="Times New Roman"/>
                <a:cs typeface="Times New Roman"/>
              </a:rPr>
              <a:t>SELECTED DATA STRUCTURE: HASH TABLE</a:t>
            </a:r>
          </a:p>
          <a:p>
            <a:pPr marL="12700" marR="2562860">
              <a:lnSpc>
                <a:spcPts val="6830"/>
              </a:lnSpc>
              <a:spcBef>
                <a:spcPts val="790"/>
              </a:spcBef>
            </a:pPr>
            <a:r>
              <a:rPr lang="en-US" sz="2850" dirty="0">
                <a:latin typeface="Times New Roman"/>
                <a:cs typeface="Times New Roman"/>
              </a:rPr>
              <a:t>REASONS: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account number as the key.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direct access to records.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searching.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banking databases. </a:t>
            </a:r>
          </a:p>
          <a:p>
            <a:pPr marL="12700" marR="2562860">
              <a:lnSpc>
                <a:spcPts val="6830"/>
              </a:lnSpc>
              <a:spcBef>
                <a:spcPts val="790"/>
              </a:spcBef>
            </a:pPr>
            <a:endParaRPr lang="en-US" sz="2850" dirty="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26" y="0"/>
            <a:ext cx="1885949" cy="2476499"/>
          </a:xfrm>
          <a:prstGeom prst="rect">
            <a:avLst/>
          </a:prstGeom>
        </p:spPr>
      </p:pic>
      <p:pic>
        <p:nvPicPr>
          <p:cNvPr id="14" name="object 11">
            <a:extLst>
              <a:ext uri="{FF2B5EF4-FFF2-40B4-BE49-F238E27FC236}">
                <a16:creationId xmlns:a16="http://schemas.microsoft.com/office/drawing/2014/main" id="{1B0E60FB-C91F-FC2E-2E0C-5D77E34EE8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96642" y="36698"/>
            <a:ext cx="2291357" cy="22955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394" y="7087947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1394" y="7802321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11394" y="8516696"/>
            <a:ext cx="114300" cy="11429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951475" y="161978"/>
            <a:ext cx="12845709" cy="1686636"/>
          </a:xfrm>
          <a:prstGeom prst="rect">
            <a:avLst/>
          </a:prstGeom>
        </p:spPr>
        <p:txBody>
          <a:bodyPr vert="horz" wrap="square" lIns="0" tIns="847364" rIns="0" bIns="0" rtlCol="0">
            <a:spAutoFit/>
          </a:bodyPr>
          <a:lstStyle/>
          <a:p>
            <a:pPr marL="3350260">
              <a:lnSpc>
                <a:spcPct val="100000"/>
              </a:lnSpc>
              <a:spcBef>
                <a:spcPts val="90"/>
              </a:spcBef>
            </a:pPr>
            <a:r>
              <a:rPr lang="en-US" sz="5400" spc="-10" dirty="0"/>
              <a:t>HOW HASH TABLE WORKS</a:t>
            </a:r>
            <a:endParaRPr sz="5400" spc="-10" dirty="0"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526" y="0"/>
            <a:ext cx="1885949" cy="24764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996642" y="36698"/>
            <a:ext cx="2291357" cy="22955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BBF638-A309-BF83-521D-2A81599E5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406" y="2332222"/>
            <a:ext cx="11689200" cy="779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828800" y="2788015"/>
            <a:ext cx="9415145" cy="38349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77600"/>
              </a:lnSpc>
            </a:pPr>
            <a:r>
              <a:rPr lang="en-US" sz="4800" b="1" spc="-10" dirty="0">
                <a:latin typeface="Times New Roman"/>
                <a:cs typeface="Times New Roman"/>
              </a:rPr>
              <a:t>ADVANTAGES</a:t>
            </a:r>
          </a:p>
          <a:p>
            <a:pPr marL="469900" marR="5080" indent="-457200">
              <a:lnSpc>
                <a:spcPct val="1776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search time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 account retrieval </a:t>
            </a:r>
          </a:p>
          <a:p>
            <a:pPr marL="469900" marR="5080" indent="-457200">
              <a:lnSpc>
                <a:spcPct val="1776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insertion and deletion</a:t>
            </a:r>
          </a:p>
          <a:p>
            <a:pPr marL="469900" marR="5080" indent="-457200">
              <a:lnSpc>
                <a:spcPct val="1776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millions of records efficiently</a:t>
            </a:r>
            <a:endParaRPr lang="en-IN" sz="28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05200" y="-266700"/>
            <a:ext cx="12845709" cy="2339140"/>
          </a:xfrm>
          <a:prstGeom prst="rect">
            <a:avLst/>
          </a:prstGeom>
        </p:spPr>
        <p:txBody>
          <a:bodyPr vert="horz" wrap="square" lIns="0" tIns="1242098" rIns="0" bIns="0" rtlCol="0">
            <a:spAutoFit/>
          </a:bodyPr>
          <a:lstStyle/>
          <a:p>
            <a:pPr marL="1539875">
              <a:lnSpc>
                <a:spcPct val="100000"/>
              </a:lnSpc>
              <a:spcBef>
                <a:spcPts val="90"/>
              </a:spcBef>
            </a:pPr>
            <a:r>
              <a:rPr lang="en-US" spc="-10" dirty="0"/>
              <a:t>WHY HASH TABLE</a:t>
            </a:r>
            <a:endParaRPr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26" y="0"/>
            <a:ext cx="1885949" cy="2476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96642" y="36698"/>
            <a:ext cx="2291357" cy="229552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721145" y="772082"/>
            <a:ext cx="12845709" cy="1667809"/>
          </a:xfrm>
          <a:prstGeom prst="rect">
            <a:avLst/>
          </a:prstGeom>
        </p:spPr>
        <p:txBody>
          <a:bodyPr vert="horz" wrap="square" lIns="0" tIns="737279" rIns="0" bIns="0" rtlCol="0">
            <a:spAutoFit/>
          </a:bodyPr>
          <a:lstStyle/>
          <a:p>
            <a:pPr marL="869950">
              <a:lnSpc>
                <a:spcPct val="100000"/>
              </a:lnSpc>
              <a:spcBef>
                <a:spcPts val="90"/>
              </a:spcBef>
            </a:pPr>
            <a:r>
              <a:rPr lang="en-US" sz="6000" spc="-20" dirty="0"/>
              <a:t>PERFORMANCE COMPARISON</a:t>
            </a:r>
            <a:endParaRPr sz="6000" spc="-2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AFC7D43-C889-3538-A533-73DCE4501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988417"/>
              </p:ext>
            </p:extLst>
          </p:nvPr>
        </p:nvGraphicFramePr>
        <p:xfrm>
          <a:off x="2925763" y="3009900"/>
          <a:ext cx="12436474" cy="5334000"/>
        </p:xfrm>
        <a:graphic>
          <a:graphicData uri="http://schemas.openxmlformats.org/drawingml/2006/table">
            <a:tbl>
              <a:tblPr/>
              <a:tblGrid>
                <a:gridCol w="6218237">
                  <a:extLst>
                    <a:ext uri="{9D8B030D-6E8A-4147-A177-3AD203B41FA5}">
                      <a16:colId xmlns:a16="http://schemas.microsoft.com/office/drawing/2014/main" val="2710822136"/>
                    </a:ext>
                  </a:extLst>
                </a:gridCol>
                <a:gridCol w="6218237">
                  <a:extLst>
                    <a:ext uri="{9D8B030D-6E8A-4147-A177-3AD203B41FA5}">
                      <a16:colId xmlns:a16="http://schemas.microsoft.com/office/drawing/2014/main" val="3528603036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Data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Search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49303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99486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32498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Binary Search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O(log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329398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Hash Table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O(1)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25995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AC2B9A2-69CE-61DD-4AC8-F06584DDC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879290"/>
              </p:ext>
            </p:extLst>
          </p:nvPr>
        </p:nvGraphicFramePr>
        <p:xfrm>
          <a:off x="2914188" y="3294604"/>
          <a:ext cx="12192000" cy="489689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1873380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083179940"/>
                    </a:ext>
                  </a:extLst>
                </a:gridCol>
              </a:tblGrid>
              <a:tr h="9793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46262"/>
                  </a:ext>
                </a:extLst>
              </a:tr>
              <a:tr h="9793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183805"/>
                  </a:ext>
                </a:extLst>
              </a:tr>
              <a:tr h="9793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478263"/>
                  </a:ext>
                </a:extLst>
              </a:tr>
              <a:tr h="9793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357560"/>
                  </a:ext>
                </a:extLst>
              </a:tr>
              <a:tr h="9793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878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6002" rIns="0" bIns="0" rtlCol="0">
            <a:spAutoFit/>
          </a:bodyPr>
          <a:lstStyle/>
          <a:p>
            <a:pPr marL="354012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5519" y="3583816"/>
            <a:ext cx="15045055" cy="251543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22045" indent="-457200">
              <a:lnSpc>
                <a:spcPct val="100000"/>
              </a:lnSpc>
              <a:spcBef>
                <a:spcPts val="114"/>
              </a:spcBef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requires quick customer lookup. </a:t>
            </a:r>
          </a:p>
          <a:p>
            <a:pPr marL="1122045" indent="-457200">
              <a:lnSpc>
                <a:spcPct val="100000"/>
              </a:lnSpc>
              <a:spcBef>
                <a:spcPts val="114"/>
              </a:spcBef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 provides the fastest average search. </a:t>
            </a:r>
          </a:p>
          <a:p>
            <a:pPr marL="1122045" indent="-457200">
              <a:lnSpc>
                <a:spcPct val="100000"/>
              </a:lnSpc>
              <a:spcBef>
                <a:spcPts val="114"/>
              </a:spcBef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efficiency and scalability. </a:t>
            </a:r>
          </a:p>
          <a:p>
            <a:pPr marL="1122045" indent="-457200">
              <a:lnSpc>
                <a:spcPct val="100000"/>
              </a:lnSpc>
              <a:spcBef>
                <a:spcPts val="114"/>
              </a:spcBef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choice for customer account retrieval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6002" rIns="0" bIns="0" rtlCol="0">
            <a:spAutoFit/>
          </a:bodyPr>
          <a:lstStyle/>
          <a:p>
            <a:pPr marL="361442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05012" y="3591666"/>
            <a:ext cx="13339444" cy="393184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sz="2800" dirty="0"/>
              <a:t>Reema Thareja, </a:t>
            </a:r>
            <a:r>
              <a:rPr lang="en-IN" sz="2800" i="1" dirty="0"/>
              <a:t>Data Structures Using C</a:t>
            </a:r>
            <a:r>
              <a:rPr lang="en-IN" sz="2800" dirty="0"/>
              <a:t>, Oxford University Press. </a:t>
            </a:r>
          </a:p>
          <a:p>
            <a:pPr marL="469900" indent="-4572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sz="2800" dirty="0"/>
              <a:t>Mark Allen Weiss, </a:t>
            </a:r>
            <a:r>
              <a:rPr lang="en-IN" sz="2800" i="1" dirty="0"/>
              <a:t>Data Structures and Algorithm Analysis in C</a:t>
            </a:r>
            <a:r>
              <a:rPr lang="en-IN" sz="2800" dirty="0"/>
              <a:t>, Pearson Education. </a:t>
            </a:r>
          </a:p>
          <a:p>
            <a:pPr marL="469900" indent="-4572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sz="2800" dirty="0"/>
              <a:t>Thomas H. </a:t>
            </a:r>
            <a:r>
              <a:rPr lang="en-IN" sz="2800" dirty="0" err="1"/>
              <a:t>Cormen</a:t>
            </a:r>
            <a:r>
              <a:rPr lang="en-IN" sz="2800" dirty="0"/>
              <a:t>, Charles E. </a:t>
            </a:r>
            <a:r>
              <a:rPr lang="en-IN" sz="2800" dirty="0" err="1"/>
              <a:t>Leiserson</a:t>
            </a:r>
            <a:r>
              <a:rPr lang="en-IN" sz="2800" dirty="0"/>
              <a:t>, Ronald L. Rivest, and Clifford Stein, </a:t>
            </a:r>
            <a:r>
              <a:rPr lang="en-IN" sz="2800" i="1" dirty="0"/>
              <a:t>Introduction to Algorithms (CLRS)</a:t>
            </a:r>
            <a:r>
              <a:rPr lang="en-IN" sz="2800" dirty="0"/>
              <a:t>, MIT Press. </a:t>
            </a:r>
          </a:p>
          <a:p>
            <a:pPr marL="469900" indent="-4572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sz="2800" dirty="0"/>
              <a:t>Seymour Lipschutz, </a:t>
            </a:r>
            <a:r>
              <a:rPr lang="en-IN" sz="2800" i="1" dirty="0"/>
              <a:t>Data Structures</a:t>
            </a:r>
            <a:r>
              <a:rPr lang="en-IN" sz="2800" dirty="0"/>
              <a:t>, Schaum's Outline Series. </a:t>
            </a:r>
          </a:p>
          <a:p>
            <a:pPr marL="469900" indent="-4572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sz="2800" dirty="0"/>
              <a:t>Ellis Horowitz, Sartaj Sahni, and Susan Anderson-Freed, </a:t>
            </a:r>
            <a:r>
              <a:rPr lang="en-IN" sz="2800" i="1" dirty="0"/>
              <a:t>Fundamentals of Data Structures in C</a:t>
            </a:r>
            <a:r>
              <a:rPr lang="en-IN" sz="2800" dirty="0"/>
              <a:t>, Universities Press.</a:t>
            </a:r>
          </a:p>
          <a:p>
            <a:pPr marL="469900" indent="-4572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sz="2800" dirty="0"/>
              <a:t> Robert Lafore, </a:t>
            </a:r>
            <a:r>
              <a:rPr lang="en-IN" sz="2800" i="1" dirty="0"/>
              <a:t>Data Structures and Algorithms in C++</a:t>
            </a:r>
            <a:r>
              <a:rPr lang="en-IN" sz="2800" dirty="0"/>
              <a:t>, SAMS Publishing.</a:t>
            </a:r>
            <a:endParaRPr lang="en-IN"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1113" y="4131469"/>
            <a:ext cx="9105900" cy="1867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50" dirty="0">
                <a:solidFill>
                  <a:srgbClr val="8B52FF"/>
                </a:solidFill>
              </a:rPr>
              <a:t>THANK</a:t>
            </a:r>
            <a:r>
              <a:rPr sz="12050" spc="-15" dirty="0">
                <a:solidFill>
                  <a:srgbClr val="8B52FF"/>
                </a:solidFill>
              </a:rPr>
              <a:t> </a:t>
            </a:r>
            <a:r>
              <a:rPr sz="12050" spc="-25" dirty="0">
                <a:solidFill>
                  <a:srgbClr val="8B52FF"/>
                </a:solidFill>
              </a:rPr>
              <a:t>YOU</a:t>
            </a:r>
            <a:endParaRPr sz="12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298</Words>
  <Application>Microsoft Office PowerPoint</Application>
  <PresentationFormat>Custom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Wingdings</vt:lpstr>
      <vt:lpstr>Office Theme</vt:lpstr>
      <vt:lpstr>EFFICIENT CUSTOMER ACCOUNT RETRIEVAL USING HASH TABLE</vt:lpstr>
      <vt:lpstr>PROBLEM STATEMENT</vt:lpstr>
      <vt:lpstr>DATA STRUCTURE SELECTION</vt:lpstr>
      <vt:lpstr>HOW HASH TABLE WORKS</vt:lpstr>
      <vt:lpstr>WHY HASH TABLE</vt:lpstr>
      <vt:lpstr>PERFORMANCE COMPARISON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 RAGHAVI  PPT  APPLIED MATHEMATICS</dc:title>
  <dc:creator>dg_raghavi57</dc:creator>
  <cp:keywords>DAG5VG9P2X8,BAENZ5A5jM8,0</cp:keywords>
  <cp:lastModifiedBy>rakshanasaravana425@outlook.com</cp:lastModifiedBy>
  <cp:revision>1</cp:revision>
  <dcterms:created xsi:type="dcterms:W3CDTF">2026-07-28T07:59:52Z</dcterms:created>
  <dcterms:modified xsi:type="dcterms:W3CDTF">2026-07-28T08:28:10Z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2025-11-27T00:00:00Z</vt:filetime>
  </property>
  <property fmtid="{D5CDD505-2E9C-101B-9397-08002B2CF9AE}" pid="4" name="Creator">
    <vt:lpwstr>Canva</vt:lpwstr>
  </property>
  <property fmtid="{D5CDD505-2E9C-101B-9397-08002B2CF9AE}" pid="5" name="LastSaved">
    <vt:filetime>2026-07-28T00:00:00Z</vt:filetime>
  </property>
  <property fmtid="{D5CDD505-2E9C-101B-9397-08002B2CF9AE}" pid="6" name="Producer">
    <vt:lpwstr>Canva</vt:lpwstr>
  </property>
</Properties>
</file>